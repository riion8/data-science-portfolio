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8" r:id="rId6"/>
    <p:sldId id="269" r:id="rId7"/>
    <p:sldId id="270" r:id="rId8"/>
    <p:sldId id="272" r:id="rId9"/>
    <p:sldId id="271" r:id="rId10"/>
    <p:sldId id="273" r:id="rId11"/>
    <p:sldId id="274" r:id="rId12"/>
    <p:sldId id="275" r:id="rId13"/>
    <p:sldId id="276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3204" autoAdjust="0"/>
  </p:normalViewPr>
  <p:slideViewPr>
    <p:cSldViewPr snapToGrid="0">
      <p:cViewPr varScale="1">
        <p:scale>
          <a:sx n="140" d="100"/>
          <a:sy n="140" d="100"/>
        </p:scale>
        <p:origin x="1098" y="34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7/27/2025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7/27/2025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B693A-C0D1-D700-90A8-609E2A3E9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6377D-909F-B06D-2DE2-6DC592C0B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1B678-7894-8E5B-F426-11815EEE5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D460B-5D9E-3806-1417-19AEA5FC8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252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E184E-32D9-7768-DDA9-955DC7689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3CE7F-7861-461A-6557-43978C666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EC5FE-6E3C-8A57-349C-A72838297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11A11-39BE-45EA-C124-9EAD65EB3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015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F5BD1-72F4-91F6-BB24-1FD4A80D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B3D92-C1FE-A1E7-F143-3F436B263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07F0F-77EF-DD99-A620-2669B0DCF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A7B98-CC85-FCC0-54D1-CA217F3B4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844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EED1F-AD37-330A-3CF2-12AA7421D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AD848-ED3F-FAA4-E5FC-479FD79D9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364367-5A29-CA93-2715-2D47CE322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997D5-BE1B-4B14-AE86-06CD35C71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030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EDC7-3D58-F515-0357-273F88511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07DA3-6809-866B-299B-AF923B34B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A0006-3AFF-9574-D7B7-FF5E0062E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473B3-6752-4D00-22F6-5F7B95D44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250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9AE25-5D78-4182-F561-786760E46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BB80E-E069-A351-E5FE-FFB0F3093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1FE14-A77A-3D9A-8572-27B54BBBA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1B57F-DDE4-233B-ADAC-E3DB88A6D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92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5E978-56A1-6D73-4BD4-D74284F5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B783B-9CCF-1E79-BC6A-17153D8E1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6768F-8541-BEAB-410E-FEFB66BB2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A7D40-22BC-9289-E01F-D21AC2704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64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E3BB4-8E34-E67D-122B-A89623CA0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BA295-B7C9-7CFE-B23D-9728BEAC6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ED380-21D6-9D7A-124A-5A449C510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77738-09FC-0762-5330-692A473E3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993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88AAB-5D77-033D-69D7-7068F64A5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BF3AA-5CB5-B20B-DE09-F558738F8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704A8-85DA-FD44-A90B-7C2AD5F5A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9FA1A-9A14-2FC7-57C1-BFF8CB3EE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25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Lotto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384321"/>
            <a:ext cx="9389288" cy="700676"/>
          </a:xfrm>
        </p:spPr>
        <p:txBody>
          <a:bodyPr>
            <a:normAutofit/>
          </a:bodyPr>
          <a:lstStyle/>
          <a:p>
            <a:r>
              <a:rPr lang="en-US" dirty="0"/>
              <a:t>Mega Millions​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11C850-7D3D-5753-9072-6B1C56672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318598"/>
            <a:ext cx="7842202" cy="42208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04E947-572A-F8BE-F63D-EE0A1B561764}"/>
              </a:ext>
            </a:extLst>
          </p:cNvPr>
          <p:cNvSpPr txBox="1"/>
          <p:nvPr/>
        </p:nvSpPr>
        <p:spPr>
          <a:xfrm>
            <a:off x="8755039" y="1318598"/>
            <a:ext cx="24293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Numbers 1-52 are mostly uniformly distributed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number of potential numbers has increased over time causing these new numbers to show a lower occurrence.</a:t>
            </a: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19CD-01CF-04F6-3478-3BA065B4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4A513A-F54B-58E9-685D-A1A5C3D83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384321"/>
            <a:ext cx="9389288" cy="700676"/>
          </a:xfrm>
        </p:spPr>
        <p:txBody>
          <a:bodyPr>
            <a:normAutofit/>
          </a:bodyPr>
          <a:lstStyle/>
          <a:p>
            <a:r>
              <a:rPr lang="en-US" dirty="0"/>
              <a:t>Mega Millions​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2B2E2-4BF8-139A-5829-EC899547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9C90AE-831F-1A09-B57A-CB63267832D3}"/>
              </a:ext>
            </a:extLst>
          </p:cNvPr>
          <p:cNvSpPr txBox="1"/>
          <p:nvPr/>
        </p:nvSpPr>
        <p:spPr>
          <a:xfrm>
            <a:off x="8755039" y="1318598"/>
            <a:ext cx="24293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number of balls increased in 2005 and 2013 to a max of 55 and 75 respectively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2018 the number of balls was dropped to 70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AF40BA-0A9F-A001-9E72-DF5B727A9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539892"/>
            <a:ext cx="7860684" cy="377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20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F708F-C45F-5465-780D-FEABE52D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47E4D5-EE05-01FF-45F6-EADA4C036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384321"/>
            <a:ext cx="9389288" cy="700676"/>
          </a:xfrm>
        </p:spPr>
        <p:txBody>
          <a:bodyPr>
            <a:normAutofit/>
          </a:bodyPr>
          <a:lstStyle/>
          <a:p>
            <a:r>
              <a:rPr lang="en-US" dirty="0"/>
              <a:t>Mega Millions​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AFD0E-7875-7A89-4189-27D39D89D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8636CC-CDEC-F1D8-2A70-DFEA0B39C3E2}"/>
              </a:ext>
            </a:extLst>
          </p:cNvPr>
          <p:cNvSpPr txBox="1"/>
          <p:nvPr/>
        </p:nvSpPr>
        <p:spPr>
          <a:xfrm>
            <a:off x="8755039" y="1318598"/>
            <a:ext cx="24293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2019 the number 49 has not shown up as frequently as the 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Please investigate if there is a problem with the ball and replace it if out of spec.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FBD35-0AF7-0327-37A0-D4EBAC5B0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161014"/>
            <a:ext cx="7894752" cy="453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613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9438C-F192-7B30-BF2A-964C9C89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6CE45F-A9BB-3A2F-D3D0-82D8E4D33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384321"/>
            <a:ext cx="9389288" cy="700676"/>
          </a:xfrm>
        </p:spPr>
        <p:txBody>
          <a:bodyPr>
            <a:normAutofit/>
          </a:bodyPr>
          <a:lstStyle/>
          <a:p>
            <a:r>
              <a:rPr lang="en-US" dirty="0"/>
              <a:t>Mega Millions​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11859-4B85-A1A3-D7CA-4C3E8080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B693D4-4EBD-3DBF-5D7D-8F816B0871C5}"/>
              </a:ext>
            </a:extLst>
          </p:cNvPr>
          <p:cNvSpPr txBox="1"/>
          <p:nvPr/>
        </p:nvSpPr>
        <p:spPr>
          <a:xfrm>
            <a:off x="8755039" y="1318598"/>
            <a:ext cx="2429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individual ball distributions are as expected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9C678-584C-6B9A-C2FF-22FA4D0F8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318598"/>
            <a:ext cx="7983514" cy="43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36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21C69-489F-DD53-C06C-E5A9FA28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8AE3DF-9A7E-4880-8000-26C8A0CD5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384321"/>
            <a:ext cx="9389288" cy="700676"/>
          </a:xfrm>
        </p:spPr>
        <p:txBody>
          <a:bodyPr>
            <a:normAutofit/>
          </a:bodyPr>
          <a:lstStyle/>
          <a:p>
            <a:r>
              <a:rPr lang="en-US" dirty="0"/>
              <a:t>Power Ball​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E73CF-F11A-8DDA-BE0C-D95CD709C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5B7596-A3FF-D3A3-0C6F-B609720152D6}"/>
              </a:ext>
            </a:extLst>
          </p:cNvPr>
          <p:cNvSpPr txBox="1"/>
          <p:nvPr/>
        </p:nvSpPr>
        <p:spPr>
          <a:xfrm>
            <a:off x="8755039" y="1318598"/>
            <a:ext cx="24293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probability of each number appearing up to 59 is fairly steady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60 to 69 were added later to they overall have a lower chance to show up.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02D341-8F9E-962C-338B-E5885C1D6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132924"/>
            <a:ext cx="7902647" cy="459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4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C5999-BE78-DE0F-A0B5-B31A6304B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0A7BF3-8F7C-AF2A-C598-7CD140FCE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384321"/>
            <a:ext cx="9389288" cy="700676"/>
          </a:xfrm>
        </p:spPr>
        <p:txBody>
          <a:bodyPr>
            <a:normAutofit/>
          </a:bodyPr>
          <a:lstStyle/>
          <a:p>
            <a:r>
              <a:rPr lang="en-US" dirty="0"/>
              <a:t>Power Ball​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71389-A367-37A8-6C45-45382391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21F39C-FAF7-D731-AF6A-824E865DFC1A}"/>
              </a:ext>
            </a:extLst>
          </p:cNvPr>
          <p:cNvSpPr txBox="1"/>
          <p:nvPr/>
        </p:nvSpPr>
        <p:spPr>
          <a:xfrm>
            <a:off x="8755039" y="1318598"/>
            <a:ext cx="24293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number of balls was increased to 69 in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3BEB84-125F-52B6-845A-2B5891EDE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499240"/>
            <a:ext cx="7979439" cy="385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787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FD1E8-C40A-4E11-C467-7B51D488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A07E32-67E7-BC3B-CA4F-AF27D221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384321"/>
            <a:ext cx="9389288" cy="700676"/>
          </a:xfrm>
        </p:spPr>
        <p:txBody>
          <a:bodyPr>
            <a:normAutofit/>
          </a:bodyPr>
          <a:lstStyle/>
          <a:p>
            <a:r>
              <a:rPr lang="en-US" dirty="0"/>
              <a:t>Power Ball​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10445-530C-7988-2314-17887872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E9967F-F37D-EBBD-C9B3-E6C651B43258}"/>
              </a:ext>
            </a:extLst>
          </p:cNvPr>
          <p:cNvSpPr txBox="1"/>
          <p:nvPr/>
        </p:nvSpPr>
        <p:spPr>
          <a:xfrm>
            <a:off x="8755039" y="1318598"/>
            <a:ext cx="24293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Looking at the probability after 2015 each ball looks uniformly distributed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CDD22-D183-1734-7159-8D8E705DD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153157"/>
            <a:ext cx="7812917" cy="455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122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DDFE-FDC2-A372-88CD-CC3E5735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4F314D-3B04-FB09-ECAA-9EB98D346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384321"/>
            <a:ext cx="9389288" cy="700676"/>
          </a:xfrm>
        </p:spPr>
        <p:txBody>
          <a:bodyPr>
            <a:normAutofit/>
          </a:bodyPr>
          <a:lstStyle/>
          <a:p>
            <a:r>
              <a:rPr lang="en-US" dirty="0"/>
              <a:t>Power Ball​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11AAC-12F5-D2F9-CD37-17B8ADFF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B3A900-F8DA-176E-D7FC-68C3867DE18F}"/>
              </a:ext>
            </a:extLst>
          </p:cNvPr>
          <p:cNvSpPr txBox="1"/>
          <p:nvPr/>
        </p:nvSpPr>
        <p:spPr>
          <a:xfrm>
            <a:off x="8755039" y="1318598"/>
            <a:ext cx="24293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2015 each ball has been drawn between 64 and 101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16, 49, and 60 have the lowest number of times </a:t>
            </a:r>
            <a:r>
              <a:rPr lang="en-US" dirty="0" err="1"/>
              <a:t>apearing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5C0D34-BFD3-43B3-1719-6F0958EA7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499" y="1084997"/>
            <a:ext cx="5143398" cy="5206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C5BF30-111B-11B2-3870-2405577E1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316" y="1099777"/>
            <a:ext cx="1476581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02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8072-E5B3-076D-29FE-84982E6D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A4BF54-9F2B-027F-5C5A-4D84F41D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384321"/>
            <a:ext cx="9389288" cy="700676"/>
          </a:xfrm>
        </p:spPr>
        <p:txBody>
          <a:bodyPr>
            <a:normAutofit/>
          </a:bodyPr>
          <a:lstStyle/>
          <a:p>
            <a:r>
              <a:rPr lang="en-US" dirty="0"/>
              <a:t>Power Ball​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39A3E-91AE-2918-EF50-677F8263E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B13327-1A37-48E1-B9CA-7131AB0F87A0}"/>
              </a:ext>
            </a:extLst>
          </p:cNvPr>
          <p:cNvSpPr txBox="1"/>
          <p:nvPr/>
        </p:nvSpPr>
        <p:spPr>
          <a:xfrm>
            <a:off x="8755039" y="1318598"/>
            <a:ext cx="24293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Looking at the probability after 2015 each ball looks uniformly distributed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C7834-7C72-94C1-4689-CBEE33C6E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153157"/>
            <a:ext cx="7812917" cy="455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93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0B37A-20A9-ABD9-B8F0-D42BB536E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E46A0C-52AC-67D2-4B0D-C009CB49E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384321"/>
            <a:ext cx="9389288" cy="700676"/>
          </a:xfrm>
        </p:spPr>
        <p:txBody>
          <a:bodyPr>
            <a:normAutofit/>
          </a:bodyPr>
          <a:lstStyle/>
          <a:p>
            <a:r>
              <a:rPr lang="en-US" dirty="0"/>
              <a:t>PICK 10​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47C44-0CB1-DFB5-2B0E-FF41CC79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0BC7CE-5A5F-D48F-7B60-0457DC368FD2}"/>
              </a:ext>
            </a:extLst>
          </p:cNvPr>
          <p:cNvSpPr txBox="1"/>
          <p:nvPr/>
        </p:nvSpPr>
        <p:spPr>
          <a:xfrm>
            <a:off x="8755039" y="1318598"/>
            <a:ext cx="24293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Pick10 has had a constant ball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slight under representation in the higher numbers (65 to 80)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Please investigate these balls and see if they need to be replaced.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397CA7-B49B-E907-CE18-438DC5A20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486704"/>
            <a:ext cx="7792445" cy="388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293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{8EDC8700-B5C5-4FC0-9AEE-82C266C21CC0}TF55c86556-70ea-476e-aa05-13a38f2d5b0da1381d77_win32-a3c664429073</Template>
  <TotalTime>45</TotalTime>
  <Words>265</Words>
  <Application>Microsoft Office PowerPoint</Application>
  <PresentationFormat>Widescreen</PresentationFormat>
  <Paragraphs>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Avenir Next LT Pro</vt:lpstr>
      <vt:lpstr>Calibri</vt:lpstr>
      <vt:lpstr>Custom</vt:lpstr>
      <vt:lpstr>Lotto</vt:lpstr>
      <vt:lpstr>Mega Millions​</vt:lpstr>
      <vt:lpstr>Mega Millions​</vt:lpstr>
      <vt:lpstr>Mega Millions​</vt:lpstr>
      <vt:lpstr>Mega Millions​</vt:lpstr>
      <vt:lpstr>Power Ball​</vt:lpstr>
      <vt:lpstr>Power Ball​</vt:lpstr>
      <vt:lpstr>Power Ball​</vt:lpstr>
      <vt:lpstr>Power Ball​</vt:lpstr>
      <vt:lpstr>Power Ball​</vt:lpstr>
      <vt:lpstr>PICK 10​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Soer</dc:creator>
  <cp:lastModifiedBy>Nathan Soer</cp:lastModifiedBy>
  <cp:revision>1</cp:revision>
  <dcterms:created xsi:type="dcterms:W3CDTF">2025-07-28T02:20:22Z</dcterms:created>
  <dcterms:modified xsi:type="dcterms:W3CDTF">2025-07-28T03:06:18Z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