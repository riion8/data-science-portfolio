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13"/>
  </p:notesMasterIdLst>
  <p:handoutMasterIdLst>
    <p:handoutMasterId r:id="rId14"/>
  </p:handoutMasterIdLst>
  <p:sldIdLst>
    <p:sldId id="289" r:id="rId5"/>
    <p:sldId id="264" r:id="rId6"/>
    <p:sldId id="265" r:id="rId7"/>
    <p:sldId id="290" r:id="rId8"/>
    <p:sldId id="291" r:id="rId9"/>
    <p:sldId id="292" r:id="rId10"/>
    <p:sldId id="293" r:id="rId11"/>
    <p:sldId id="29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9" autoAdjust="0"/>
    <p:restoredTop sz="94694" autoAdjust="0"/>
  </p:normalViewPr>
  <p:slideViewPr>
    <p:cSldViewPr snapToGrid="0">
      <p:cViewPr varScale="1">
        <p:scale>
          <a:sx n="76" d="100"/>
          <a:sy n="76" d="100"/>
        </p:scale>
        <p:origin x="126" y="174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 Soer" userId="7b80c4d02c6ec950" providerId="LiveId" clId="{80D347B1-0701-409C-9864-EA775453FA3D}"/>
    <pc:docChg chg="modSld">
      <pc:chgData name="Nathan Soer" userId="7b80c4d02c6ec950" providerId="LiveId" clId="{80D347B1-0701-409C-9864-EA775453FA3D}" dt="2026-03-08T21:17:35.395" v="787" actId="20577"/>
      <pc:docMkLst>
        <pc:docMk/>
      </pc:docMkLst>
      <pc:sldChg chg="modSp mod">
        <pc:chgData name="Nathan Soer" userId="7b80c4d02c6ec950" providerId="LiveId" clId="{80D347B1-0701-409C-9864-EA775453FA3D}" dt="2026-03-08T20:25:24.454" v="564" actId="20577"/>
        <pc:sldMkLst>
          <pc:docMk/>
          <pc:sldMk cId="932747856" sldId="290"/>
        </pc:sldMkLst>
        <pc:spChg chg="mod">
          <ac:chgData name="Nathan Soer" userId="7b80c4d02c6ec950" providerId="LiveId" clId="{80D347B1-0701-409C-9864-EA775453FA3D}" dt="2026-03-08T20:25:24.454" v="564" actId="20577"/>
          <ac:spMkLst>
            <pc:docMk/>
            <pc:sldMk cId="932747856" sldId="290"/>
            <ac:spMk id="9" creationId="{1D9558A8-341E-6F4A-9D8A-96F332A618F3}"/>
          </ac:spMkLst>
        </pc:spChg>
      </pc:sldChg>
      <pc:sldChg chg="modSp mod">
        <pc:chgData name="Nathan Soer" userId="7b80c4d02c6ec950" providerId="LiveId" clId="{80D347B1-0701-409C-9864-EA775453FA3D}" dt="2026-03-08T20:23:22.360" v="336" actId="20577"/>
        <pc:sldMkLst>
          <pc:docMk/>
          <pc:sldMk cId="1072565570" sldId="293"/>
        </pc:sldMkLst>
        <pc:spChg chg="mod">
          <ac:chgData name="Nathan Soer" userId="7b80c4d02c6ec950" providerId="LiveId" clId="{80D347B1-0701-409C-9864-EA775453FA3D}" dt="2026-03-08T20:23:22.360" v="336" actId="20577"/>
          <ac:spMkLst>
            <pc:docMk/>
            <pc:sldMk cId="1072565570" sldId="293"/>
            <ac:spMk id="3" creationId="{C90B8CAD-0FD5-4A73-8D4E-D548C81A3FDC}"/>
          </ac:spMkLst>
        </pc:spChg>
      </pc:sldChg>
      <pc:sldChg chg="modSp mod">
        <pc:chgData name="Nathan Soer" userId="7b80c4d02c6ec950" providerId="LiveId" clId="{80D347B1-0701-409C-9864-EA775453FA3D}" dt="2026-03-08T21:17:35.395" v="787" actId="20577"/>
        <pc:sldMkLst>
          <pc:docMk/>
          <pc:sldMk cId="3908723839" sldId="294"/>
        </pc:sldMkLst>
        <pc:spChg chg="mod">
          <ac:chgData name="Nathan Soer" userId="7b80c4d02c6ec950" providerId="LiveId" clId="{80D347B1-0701-409C-9864-EA775453FA3D}" dt="2026-03-08T21:17:35.395" v="787" actId="20577"/>
          <ac:spMkLst>
            <pc:docMk/>
            <pc:sldMk cId="3908723839" sldId="294"/>
            <ac:spMk id="3" creationId="{E881B277-2A2C-0371-DD1D-A2C3C58E0A2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99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698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3B6E9-7CAF-5859-0CDD-B5ED2A034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9AF87E-836D-8E1C-0229-E69A85ED3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22F34F-164D-DF19-ED4A-276C408A2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49380B-74D8-5C35-2281-436D27D88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6413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AC4D6-5557-C6AE-D629-29BEFFEE6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A1450B-9EB8-F21A-77E2-96611106D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81E556-362C-8C61-FB26-60A4F085F6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43008-19EA-A06E-D0D4-DA1C81E499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7816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AC4D6-5557-C6AE-D629-29BEFFEE6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A1450B-9EB8-F21A-77E2-96611106D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81E556-362C-8C61-FB26-60A4F085F6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43008-19EA-A06E-D0D4-DA1C81E499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7816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23FF7-7938-ABDB-5744-1EBD3E71D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918521-3A08-C9B0-E533-DFABC73BDA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8A1EE7-C000-1004-880B-C6AEDAEA5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58654-B8CC-AB97-9A32-504AD3123C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942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9A6F7-E657-817C-466F-F6012D6BE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E4B928-DDA4-4B7D-63A4-DD386B4DA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7B2732-8857-AE6D-7143-010F1372B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25F28-F77A-C3B3-4D08-6323318164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873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6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9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3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2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0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26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3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83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6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9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24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E49FCE-658C-FF5A-6405-3D10F1AC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03C516-D418-5E3E-1E4E-1DF84643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BF5B15-0E8A-A82C-6E9C-FCF3FBAA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4B33CA-9490-C8E1-FE4F-06367AF29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86824F-3198-FE44-5A4A-70312048D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58CD71-6E97-B6A9-11B6-867ED408D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9FDAA6-BDE8-D6C3-17CD-F87BFB54F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2A0738D-E9A9-14B7-4739-62E402B0C2D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4961" y="2032663"/>
            <a:ext cx="4463005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766D4CB-8BCE-C6EE-EF57-A8A819EBD36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41720" y="2032663"/>
            <a:ext cx="5212080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503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D9208B-0FD2-A7E3-5202-0F18392AE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4010E2-9C6F-C582-1E3A-F5D43D0FF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D2B8AF-94DE-C211-EAE7-0971C111B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47A2AC-F284-077E-9A14-EB7D1DE62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0E91F1F-5151-2442-2B89-CE0AB1178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BD82AC-3C5B-819E-E0FF-157D74B84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299648-2E6E-FA0D-85E4-8884BE34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07BD0263-5D42-E696-F170-1F9CF5FF2A7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38199" y="2078963"/>
            <a:ext cx="3435628" cy="4067492"/>
          </a:xfrm>
        </p:spPr>
        <p:txBody>
          <a:bodyPr>
            <a:normAutofit/>
          </a:bodyPr>
          <a:lstStyle>
            <a:lvl1pPr marL="4572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eriod"/>
              <a:defRPr sz="1800"/>
            </a:lvl1pPr>
            <a:lvl2pPr marL="9144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eriod"/>
              <a:defRPr sz="1800"/>
            </a:lvl2pPr>
            <a:lvl3pPr marL="13716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arenR"/>
              <a:defRPr sz="1800"/>
            </a:lvl3pPr>
            <a:lvl4pPr marL="18288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arenR"/>
              <a:defRPr sz="1800"/>
            </a:lvl4pPr>
            <a:lvl5pPr marL="2228850" indent="-457200">
              <a:spcBef>
                <a:spcPts val="1000"/>
              </a:spcBef>
              <a:spcAft>
                <a:spcPts val="500"/>
              </a:spcAft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1BEE7174-135F-6F9F-11B9-3C3F2F9CDEA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65539" y="2087315"/>
            <a:ext cx="6007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161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65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Loan Approval Prediction</a:t>
            </a:r>
          </a:p>
        </p:txBody>
      </p:sp>
      <p:pic>
        <p:nvPicPr>
          <p:cNvPr id="7" name="Picture Placeholder 6" descr="Looking up view of a city with skyscrapers">
            <a:extLst>
              <a:ext uri="{FF2B5EF4-FFF2-40B4-BE49-F238E27FC236}">
                <a16:creationId xmlns:a16="http://schemas.microsoft.com/office/drawing/2014/main" id="{ED21B7CD-3D69-26B5-8A0B-52A19A6B0A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" r="72"/>
          <a:stretch/>
        </p:blipFill>
        <p:spPr/>
      </p:pic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701633"/>
          </a:xfrm>
          <a:noFill/>
        </p:spPr>
        <p:txBody>
          <a:bodyPr/>
          <a:lstStyle/>
          <a:p>
            <a:r>
              <a:rPr lang="en-US" dirty="0"/>
              <a:t>Business Problem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6AABE-3BF4-B832-204C-DCE6FA81F669}"/>
              </a:ext>
            </a:extLst>
          </p:cNvPr>
          <p:cNvSpPr txBox="1"/>
          <p:nvPr/>
        </p:nvSpPr>
        <p:spPr>
          <a:xfrm>
            <a:off x="1143000" y="2644170"/>
            <a:ext cx="97585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Loan applications can be stressful for multiple reasons, one of those reasons is that every time you apply for a loan your credit score drops.  This project seeks to create a simple model that will allow applicants to predict if their loan will be approved before going through the entire process.</a:t>
            </a:r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666007"/>
          </a:xfrm>
          <a:noFill/>
        </p:spPr>
        <p:txBody>
          <a:bodyPr/>
          <a:lstStyle/>
          <a:p>
            <a:r>
              <a:rPr lang="en-US" dirty="0"/>
              <a:t>Data Explanation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43620A-17A8-5908-347C-F61E0DD467A5}"/>
              </a:ext>
            </a:extLst>
          </p:cNvPr>
          <p:cNvSpPr txBox="1"/>
          <p:nvPr/>
        </p:nvSpPr>
        <p:spPr>
          <a:xfrm>
            <a:off x="1143000" y="1401288"/>
            <a:ext cx="9906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Loan Application Data Set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Applicant_id</a:t>
            </a:r>
            <a:r>
              <a:rPr lang="en-US" sz="2400" dirty="0"/>
              <a:t> – unique row ID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Age – applicant’s age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Gender – applicant’s gender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Marital_status</a:t>
            </a:r>
            <a:r>
              <a:rPr lang="en-US" sz="2400" dirty="0"/>
              <a:t> – Is the applicant married at the time of the application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Annual_income</a:t>
            </a:r>
            <a:r>
              <a:rPr lang="en-US" sz="2400" dirty="0"/>
              <a:t> – gross income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Loan_ammount</a:t>
            </a:r>
            <a:r>
              <a:rPr lang="en-US" sz="2400" dirty="0"/>
              <a:t> – amount requested to be financed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Credit_score</a:t>
            </a:r>
            <a:r>
              <a:rPr lang="en-US" sz="2400" dirty="0"/>
              <a:t> – The credit risk score as provided by one of the credit agencies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Num_dependents</a:t>
            </a:r>
            <a:r>
              <a:rPr lang="en-US" sz="2400" dirty="0"/>
              <a:t> – number of dependents in the household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Existing_loans_count</a:t>
            </a:r>
            <a:r>
              <a:rPr lang="en-US" sz="2400" dirty="0"/>
              <a:t> – number of existing loans that the applicant has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Employment_status</a:t>
            </a:r>
            <a:r>
              <a:rPr lang="en-US" sz="2400" dirty="0"/>
              <a:t> – Is the applicant employed at the time of the application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Loan_approved</a:t>
            </a:r>
            <a:r>
              <a:rPr lang="en-US" sz="2400" dirty="0"/>
              <a:t> – Identifier if the loan was ultimately approved</a:t>
            </a:r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A1ACB-8FEF-4C19-5EE1-A4B224965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C903B-551A-BED6-4512-53E950BCA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666007"/>
          </a:xfrm>
          <a:noFill/>
        </p:spPr>
        <p:txBody>
          <a:bodyPr/>
          <a:lstStyle/>
          <a:p>
            <a:r>
              <a:rPr lang="en-US" dirty="0"/>
              <a:t>Data Explanation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9558A8-341E-6F4A-9D8A-96F332A618F3}"/>
              </a:ext>
            </a:extLst>
          </p:cNvPr>
          <p:cNvSpPr txBox="1"/>
          <p:nvPr/>
        </p:nvSpPr>
        <p:spPr>
          <a:xfrm>
            <a:off x="1143000" y="3528105"/>
            <a:ext cx="9906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Data was evaluated to see if any variables could be dropped due to correlations.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 variables needed to be dropped due to high correlation.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Categorical variables (Gender, Marital Status, and Employment Status) were converted to dummy variables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A3D2C8-3ADD-0ECE-AE6B-D1453D2C9C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472564"/>
            <a:ext cx="9730202" cy="19564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2747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74049-02BB-28F3-0066-A5E8EF264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A1E25-5D2A-FE85-9514-4C1465CD2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666007"/>
          </a:xfrm>
          <a:noFill/>
        </p:spPr>
        <p:txBody>
          <a:bodyPr/>
          <a:lstStyle/>
          <a:p>
            <a:r>
              <a:rPr lang="en-US" dirty="0"/>
              <a:t>Methods/Analysis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FD9696-8C5B-9AAF-2091-643061A53EE1}"/>
              </a:ext>
            </a:extLst>
          </p:cNvPr>
          <p:cNvSpPr txBox="1"/>
          <p:nvPr/>
        </p:nvSpPr>
        <p:spPr>
          <a:xfrm>
            <a:off x="1143000" y="1398494"/>
            <a:ext cx="6165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Logistic Regression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8FFD3A-75F0-899D-EE2B-990F210D13C7}"/>
              </a:ext>
            </a:extLst>
          </p:cNvPr>
          <p:cNvSpPr txBox="1"/>
          <p:nvPr/>
        </p:nvSpPr>
        <p:spPr>
          <a:xfrm>
            <a:off x="1143000" y="3674237"/>
            <a:ext cx="6165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Random Forest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3EF3FD-170C-7541-8B68-1A22D50DC4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767826"/>
            <a:ext cx="2159000" cy="1337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2DCCF2-BF59-2C40-AD29-7F8FBF6893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767" y="1767826"/>
            <a:ext cx="3754672" cy="1337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DD3E8A-B47E-A27A-A0E5-70ECF2544D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999" y="4043569"/>
            <a:ext cx="2235201" cy="1385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29196B0-A533-B8CE-736C-1AC3D7628D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767" y="4043568"/>
            <a:ext cx="3754672" cy="13379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2471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74049-02BB-28F3-0066-A5E8EF264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A1E25-5D2A-FE85-9514-4C1465CD2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666007"/>
          </a:xfrm>
          <a:noFill/>
        </p:spPr>
        <p:txBody>
          <a:bodyPr/>
          <a:lstStyle/>
          <a:p>
            <a:r>
              <a:rPr lang="en-US" dirty="0"/>
              <a:t>Methods/Analysis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FD9696-8C5B-9AAF-2091-643061A53EE1}"/>
              </a:ext>
            </a:extLst>
          </p:cNvPr>
          <p:cNvSpPr txBox="1"/>
          <p:nvPr/>
        </p:nvSpPr>
        <p:spPr>
          <a:xfrm>
            <a:off x="1143000" y="1398494"/>
            <a:ext cx="6165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Nearest Neighbors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8FFD3A-75F0-899D-EE2B-990F210D13C7}"/>
              </a:ext>
            </a:extLst>
          </p:cNvPr>
          <p:cNvSpPr txBox="1"/>
          <p:nvPr/>
        </p:nvSpPr>
        <p:spPr>
          <a:xfrm>
            <a:off x="1143000" y="3974353"/>
            <a:ext cx="6165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XG Boost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FE2FEC-A4BF-D6EF-03F8-5CB4F5BC37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900" y="1757651"/>
            <a:ext cx="2070100" cy="1282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0348E1-E4ED-A6A8-B958-3BFBB9D4A7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900" y="4343684"/>
            <a:ext cx="2070100" cy="1282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EA7B57-F380-0D93-9BEB-EF5441EA12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0467" y="4343683"/>
            <a:ext cx="3600073" cy="1282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2367DD2-2383-43C0-6236-569E11434F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467" y="1767826"/>
            <a:ext cx="3571319" cy="128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693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D450C-2BBF-7274-F757-338C161E5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0CF29-EAB7-8E7E-32B6-F792E7D01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666007"/>
          </a:xfrm>
          <a:noFill/>
        </p:spPr>
        <p:txBody>
          <a:bodyPr/>
          <a:lstStyle/>
          <a:p>
            <a:r>
              <a:rPr lang="en-US" dirty="0"/>
              <a:t>Conclusion/Limitations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0B8CAD-0FD5-4A73-8D4E-D548C81A3FDC}"/>
              </a:ext>
            </a:extLst>
          </p:cNvPr>
          <p:cNvSpPr txBox="1"/>
          <p:nvPr/>
        </p:nvSpPr>
        <p:spPr>
          <a:xfrm>
            <a:off x="1250576" y="1304364"/>
            <a:ext cx="96460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Compared to another Logistic Regression model this model was within 2% in all metrics.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best model was XG Boost with over a 98% in all four metrics.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second best was the Random Forest Model with all metrics being right around 96%.</a:t>
            </a:r>
          </a:p>
        </p:txBody>
      </p:sp>
    </p:spTree>
    <p:extLst>
      <p:ext uri="{BB962C8B-B14F-4D97-AF65-F5344CB8AC3E}">
        <p14:creationId xmlns:p14="http://schemas.microsoft.com/office/powerpoint/2010/main" val="1072565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B702A-2F1A-E995-47D6-E0FFF55BF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26724-F50D-39E3-F7DB-2C3C83E66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666007"/>
          </a:xfrm>
          <a:noFill/>
        </p:spPr>
        <p:txBody>
          <a:bodyPr/>
          <a:lstStyle/>
          <a:p>
            <a:r>
              <a:rPr lang="en-US" dirty="0"/>
              <a:t>Ethical Assessment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81B277-2A2C-0371-DD1D-A2C3C58E0A2C}"/>
              </a:ext>
            </a:extLst>
          </p:cNvPr>
          <p:cNvSpPr txBox="1"/>
          <p:nvPr/>
        </p:nvSpPr>
        <p:spPr>
          <a:xfrm>
            <a:off x="1143000" y="1212855"/>
            <a:ext cx="7086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There is no information about how this data was sourced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data set does contain some demographic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second model with out the demographic information with no impact to </a:t>
            </a:r>
            <a:r>
              <a:rPr lang="en-US" sz="2400"/>
              <a:t>the results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0872383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E62E91-3991-445A-ADE0-DB143B3932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20BE78-9FDF-401B-B412-3AA10EC5BEA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C180A77-4928-484F-9529-F716C85D6A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{CC83158F-8BDB-49AF-9C74-5F9AE2933024}TF020710ce-b2a3-4743-8ec4-0abcd2574951ef9f6aa4_win32-415a623b9e9a</Template>
  <TotalTime>2503</TotalTime>
  <Words>326</Words>
  <Application>Microsoft Office PowerPoint</Application>
  <PresentationFormat>Widescreen</PresentationFormat>
  <Paragraphs>42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Univers Condensed Light</vt:lpstr>
      <vt:lpstr>Walbaum Display Light</vt:lpstr>
      <vt:lpstr>AngleLinesVTI</vt:lpstr>
      <vt:lpstr>Loan Approval Prediction</vt:lpstr>
      <vt:lpstr>Business Problem</vt:lpstr>
      <vt:lpstr>Data Explanation</vt:lpstr>
      <vt:lpstr>Data Explanation</vt:lpstr>
      <vt:lpstr>Methods/Analysis</vt:lpstr>
      <vt:lpstr>Methods/Analysis</vt:lpstr>
      <vt:lpstr>Conclusion/Limitations</vt:lpstr>
      <vt:lpstr>Ethical Assessment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Soer</dc:creator>
  <cp:lastModifiedBy>Nathan Soer</cp:lastModifiedBy>
  <cp:revision>1</cp:revision>
  <dcterms:created xsi:type="dcterms:W3CDTF">2026-03-07T03:33:58Z</dcterms:created>
  <dcterms:modified xsi:type="dcterms:W3CDTF">2026-03-08T21:17:39Z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